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B81D9AAA-5BA7-49BC-94BA-0C490B9729AD}">
          <p14:sldIdLst>
            <p14:sldId id="256"/>
          </p14:sldIdLst>
        </p14:section>
        <p14:section name="Розділ без заголовка" id="{88D62C5A-B4B4-4565-93FC-76BE0FE7BD66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76625" autoAdjust="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7E15A-B316-4AE4-A4F9-42E9A6FECCD1}" type="datetimeFigureOut">
              <a:rPr lang="uk-UA" smtClean="0"/>
              <a:t>16.10.2026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875E9-8491-4A4B-9984-804C04DC3F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71213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Доброго дня, сьогодні ми представлятимемо роботу з другого </a:t>
            </a:r>
            <a:r>
              <a:rPr lang="uk-UA" dirty="0" err="1"/>
              <a:t>спринта</a:t>
            </a:r>
            <a:r>
              <a:rPr lang="uk-UA" dirty="0"/>
              <a:t> продукту </a:t>
            </a:r>
            <a:r>
              <a:rPr lang="en-US" dirty="0"/>
              <a:t>“</a:t>
            </a:r>
            <a:r>
              <a:rPr lang="uk-UA" dirty="0"/>
              <a:t>Персонал+</a:t>
            </a:r>
            <a:r>
              <a:rPr lang="en-US" dirty="0"/>
              <a:t>”</a:t>
            </a:r>
            <a:endParaRPr lang="uk-UA" dirty="0"/>
          </a:p>
          <a:p>
            <a:r>
              <a:rPr lang="uk-UA" dirty="0"/>
              <a:t>Метою даної роботи було зареєструвати усі дефекти до функціональних вимог замовника, вимог інтерфейсу, бізнес-логіки модуля та нефункціональних вимог, для проведення майбутніх тестувань. Також ми склали план тестування та виправили специфікацію вимог до продукту.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875E9-8491-4A4B-9984-804C04DC3FE3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79564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У розділі вступ було описано призначення, обсяг, терміни виконання робіт та посилання. В цьому розділі було знайдено наступні дефекти</a:t>
            </a:r>
            <a:r>
              <a:rPr lang="en-US" dirty="0"/>
              <a:t> </a:t>
            </a:r>
            <a:r>
              <a:rPr lang="uk-UA" dirty="0"/>
              <a:t>з якими рекомендуємо Вам ознайомитись</a:t>
            </a:r>
            <a:r>
              <a:rPr lang="en-US" dirty="0"/>
              <a:t>: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875E9-8491-4A4B-9984-804C04DC3FE3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2559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Розділ 2 містить дані про користувачів продукту та їхні ролі, описує інтерфейс взаємодії користувача з продуктом та надає список обмежень та припущень щодо роботи </a:t>
            </a:r>
            <a:r>
              <a:rPr lang="en-US" dirty="0"/>
              <a:t>demo-</a:t>
            </a:r>
            <a:r>
              <a:rPr lang="uk-UA" dirty="0"/>
              <a:t>стенду продукту. В цьому розділі було знайдено наступні дефекти</a:t>
            </a:r>
            <a:r>
              <a:rPr lang="en-US" dirty="0"/>
              <a:t> </a:t>
            </a:r>
            <a:r>
              <a:rPr lang="uk-UA" dirty="0"/>
              <a:t>з якими рекомендуємо Вам ознайомитись</a:t>
            </a:r>
            <a:r>
              <a:rPr lang="en-US" dirty="0"/>
              <a:t>:</a:t>
            </a:r>
            <a:endParaRPr lang="uk-UA" dirty="0"/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875E9-8491-4A4B-9984-804C04DC3FE3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83944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У цьому розділі було описано функціональні вимоги до поведінки нашої програми. В цьому розділі було знайдено наступні дефекти</a:t>
            </a:r>
            <a:r>
              <a:rPr lang="en-US" dirty="0"/>
              <a:t> </a:t>
            </a:r>
            <a:r>
              <a:rPr lang="uk-UA" dirty="0"/>
              <a:t>з якими рекомендуємо Вам ознайомитись</a:t>
            </a:r>
            <a:r>
              <a:rPr lang="en-US" dirty="0"/>
              <a:t>:</a:t>
            </a:r>
            <a:endParaRPr lang="uk-UA" dirty="0"/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875E9-8491-4A4B-9984-804C04DC3FE3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2403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А у цьому розділі були інструкції та вимоги до графічного інтерфейсу та взаємодії користувача з ним. В цьому розділі було знайдено наступні дефекти</a:t>
            </a:r>
            <a:r>
              <a:rPr lang="en-US" dirty="0"/>
              <a:t> </a:t>
            </a:r>
            <a:r>
              <a:rPr lang="uk-UA" dirty="0"/>
              <a:t>з якими рекомендуємо Вам ознайомитись</a:t>
            </a:r>
            <a:r>
              <a:rPr lang="en-US" dirty="0"/>
              <a:t>:</a:t>
            </a:r>
            <a:endParaRPr lang="uk-UA" dirty="0"/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875E9-8491-4A4B-9984-804C04DC3FE3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8598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Цей розділ конкретно математично описує роботу бізнес-процесів у нашому продукті. В цьому розділі було знайдено наступні дефекти</a:t>
            </a:r>
            <a:r>
              <a:rPr lang="en-US" dirty="0"/>
              <a:t> </a:t>
            </a:r>
            <a:r>
              <a:rPr lang="uk-UA" dirty="0"/>
              <a:t>з якими рекомендуємо Вам ознайомитись</a:t>
            </a:r>
            <a:r>
              <a:rPr lang="en-US" dirty="0"/>
              <a:t>:</a:t>
            </a:r>
            <a:endParaRPr lang="uk-UA" dirty="0"/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875E9-8491-4A4B-9984-804C04DC3FE3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0054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Цей розділ описує решту вимог, що стосуються швидкодії, безпеки, зручності використання та загалом роботи продукту. В цьому розділі було знайдено наступні дефекти</a:t>
            </a:r>
            <a:r>
              <a:rPr lang="en-US" dirty="0"/>
              <a:t> </a:t>
            </a:r>
            <a:r>
              <a:rPr lang="uk-UA" dirty="0"/>
              <a:t>з якими рекомендуємо Вам ознайомитись</a:t>
            </a:r>
            <a:r>
              <a:rPr lang="en-US" dirty="0"/>
              <a:t>:</a:t>
            </a:r>
            <a:endParaRPr lang="uk-UA" dirty="0"/>
          </a:p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875E9-8491-4A4B-9984-804C04DC3FE3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959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Серед цих дефектів можемо більш детально розглянути наступні показові дефекти</a:t>
            </a:r>
            <a:r>
              <a:rPr lang="en-US" dirty="0"/>
              <a:t>:</a:t>
            </a:r>
          </a:p>
          <a:p>
            <a:r>
              <a:rPr lang="uk-UA" dirty="0"/>
              <a:t>Найбільш очевидним є дефект, що дві вимоги мають однаковий ідентифікатор </a:t>
            </a:r>
            <a:r>
              <a:rPr lang="en-US" dirty="0"/>
              <a:t>F-90</a:t>
            </a:r>
            <a:r>
              <a:rPr lang="uk-UA" dirty="0"/>
              <a:t>, що унеможливлює </a:t>
            </a:r>
            <a:r>
              <a:rPr lang="uk-UA" dirty="0" err="1"/>
              <a:t>простежуваність</a:t>
            </a:r>
            <a:r>
              <a:rPr lang="uk-UA" dirty="0"/>
              <a:t> цієї вимоги.</a:t>
            </a:r>
          </a:p>
          <a:p>
            <a:r>
              <a:rPr lang="uk-UA" dirty="0"/>
              <a:t>Наступний дефект, що ми розглянемо доволі спірний, адже ДПСУ не має відкритого </a:t>
            </a:r>
            <a:r>
              <a:rPr lang="en-US" dirty="0"/>
              <a:t>API </a:t>
            </a:r>
            <a:r>
              <a:rPr lang="uk-UA" dirty="0"/>
              <a:t>Для перевірки належності РНОКПП до певної фізичної особи, але разом з цим виникає потреба у перевірці валідності РНОКПП як цього хоче замовник. Тому було прийнято рішення реалізувати перевірку формату РНОКПП та контрольного розряду (вона завжди дорівнює 0).</a:t>
            </a:r>
          </a:p>
          <a:p>
            <a:r>
              <a:rPr lang="uk-UA" dirty="0"/>
              <a:t>І останній дефект що ми розглянемо є найважливішим у подальших тестуваннях, оскільки прямо впливає на інформаційну безпеку нашої системи обліку працівників. Дефект стосується неузгодженості правил паролю, адже </a:t>
            </a:r>
            <a:r>
              <a:rPr lang="en-US" dirty="0"/>
              <a:t>GUI-50 </a:t>
            </a:r>
            <a:r>
              <a:rPr lang="uk-UA" dirty="0"/>
              <a:t>та</a:t>
            </a:r>
            <a:r>
              <a:rPr lang="en-US" dirty="0"/>
              <a:t> S-10 </a:t>
            </a:r>
            <a:r>
              <a:rPr lang="uk-UA" dirty="0"/>
              <a:t>містять різні вимоги до паролю.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875E9-8491-4A4B-9984-804C04DC3FE3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6625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У документі </a:t>
            </a:r>
            <a:r>
              <a:rPr lang="en-US" dirty="0"/>
              <a:t>SRS 1</a:t>
            </a:r>
            <a:r>
              <a:rPr lang="uk-UA" dirty="0"/>
              <a:t>.1, що відповідає за новий список вимог після внесення правок та узгодження вимог із замовником продукту, було складено журнал змін, частину якого ви можете бачити на екрані у вигляді прикладу – таблички, та новий список вимог.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875E9-8491-4A4B-9984-804C04DC3FE3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32729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У цьому спринті також було складено план тестування для багатьох типів тестувань, зокрема розглянемо як приклад плани тестувань різних пріоритетів</a:t>
            </a:r>
            <a:r>
              <a:rPr lang="en-US" dirty="0"/>
              <a:t>:</a:t>
            </a:r>
          </a:p>
          <a:p>
            <a:r>
              <a:rPr lang="uk-UA" dirty="0"/>
              <a:t>У функціональних тестуваннях ми перевіряли функціональні параметри програми до вимог замовника через ручне проходження сценаріїв у </a:t>
            </a:r>
            <a:r>
              <a:rPr lang="uk-UA" dirty="0" err="1"/>
              <a:t>демо</a:t>
            </a:r>
            <a:r>
              <a:rPr lang="en-US" dirty="0"/>
              <a:t>;</a:t>
            </a:r>
            <a:endParaRPr lang="uk-UA" dirty="0"/>
          </a:p>
          <a:p>
            <a:r>
              <a:rPr lang="uk-UA" dirty="0"/>
              <a:t>Також на </a:t>
            </a:r>
            <a:r>
              <a:rPr lang="uk-UA" dirty="0" err="1"/>
              <a:t>демо</a:t>
            </a:r>
            <a:r>
              <a:rPr lang="uk-UA" dirty="0"/>
              <a:t>-стадії тестували графічний інтерфейс на відповідність вимогам </a:t>
            </a:r>
            <a:r>
              <a:rPr lang="en-US" dirty="0"/>
              <a:t>GUI-10 – GUI-80</a:t>
            </a:r>
            <a:r>
              <a:rPr lang="uk-UA" dirty="0"/>
              <a:t>.</a:t>
            </a:r>
          </a:p>
          <a:p>
            <a:r>
              <a:rPr lang="uk-UA" dirty="0"/>
              <a:t>Ці вимоги були високого пріоритету, адже напряму стосувались побажання замовника.</a:t>
            </a:r>
          </a:p>
          <a:p>
            <a:endParaRPr lang="uk-UA" dirty="0"/>
          </a:p>
          <a:p>
            <a:r>
              <a:rPr lang="uk-UA" dirty="0"/>
              <a:t>У тестуванні</a:t>
            </a:r>
            <a:r>
              <a:rPr lang="en-US" dirty="0"/>
              <a:t> </a:t>
            </a:r>
            <a:r>
              <a:rPr lang="uk-UA" dirty="0"/>
              <a:t>юзабіліті ми перевірили наскільки зручне та інтуїтивно-зрозуміле є користування нашим додатком на етапі альфа та бета тестувань шляхом звернення до рецензії </a:t>
            </a:r>
            <a:r>
              <a:rPr lang="uk-UA" dirty="0" err="1"/>
              <a:t>тестувальників</a:t>
            </a:r>
            <a:r>
              <a:rPr lang="en-US" dirty="0"/>
              <a:t>;</a:t>
            </a:r>
          </a:p>
          <a:p>
            <a:r>
              <a:rPr lang="uk-UA" dirty="0"/>
              <a:t>У </a:t>
            </a:r>
            <a:r>
              <a:rPr lang="uk-UA" dirty="0" err="1"/>
              <a:t>конфігуарційному</a:t>
            </a:r>
            <a:r>
              <a:rPr lang="uk-UA" dirty="0"/>
              <a:t> тестуванні ми перевіряли адаптованість нашої платформи до різних пристроїв, браузерів та систем через емуляцію цих систем.</a:t>
            </a:r>
          </a:p>
          <a:p>
            <a:r>
              <a:rPr lang="uk-UA" dirty="0"/>
              <a:t>Ці вимоги були визначені як вимоги середнього пріоритету, адже вони є необхідними для успішності продукту.</a:t>
            </a:r>
          </a:p>
          <a:p>
            <a:endParaRPr lang="uk-UA" dirty="0"/>
          </a:p>
          <a:p>
            <a:r>
              <a:rPr lang="uk-UA" dirty="0"/>
              <a:t>А також у порівняльних тестуваннях ми заміряли показники продуктивності нашої системи через тестування набору сценаріїв </a:t>
            </a:r>
            <a:r>
              <a:rPr lang="en-US" dirty="0" err="1"/>
              <a:t>Jmeter</a:t>
            </a:r>
            <a:r>
              <a:rPr lang="uk-UA" dirty="0"/>
              <a:t>.</a:t>
            </a:r>
          </a:p>
          <a:p>
            <a:r>
              <a:rPr lang="uk-UA" dirty="0"/>
              <a:t>Оскільки програма могла б </a:t>
            </a:r>
            <a:r>
              <a:rPr lang="uk-UA" dirty="0" err="1"/>
              <a:t>працюввати</a:t>
            </a:r>
            <a:r>
              <a:rPr lang="uk-UA" dirty="0"/>
              <a:t> і без цього та це тестування не є критичним, то ми визначили його як тестування низького пріоритету.</a:t>
            </a:r>
            <a:endParaRPr lang="en-US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875E9-8491-4A4B-9984-804C04DC3FE3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5861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‹№›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DF67F-C375-6176-2224-85AD12A82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1126958"/>
          </a:xfrm>
        </p:spPr>
        <p:txBody>
          <a:bodyPr/>
          <a:lstStyle/>
          <a:p>
            <a:r>
              <a:rPr lang="uk-UA" sz="4400" dirty="0"/>
              <a:t>«Персонал+» — система управління персоналом, HRM 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0AD64EB-AA72-BE7D-8DC1-427A4B049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574759"/>
            <a:ext cx="8825658" cy="861420"/>
          </a:xfrm>
        </p:spPr>
        <p:txBody>
          <a:bodyPr>
            <a:normAutofit/>
          </a:bodyPr>
          <a:lstStyle/>
          <a:p>
            <a:r>
              <a:rPr lang="uk-UA" sz="1600" dirty="0"/>
              <a:t>Дисципліна «Технології забезпечення якості програмного забезпечення»</a:t>
            </a:r>
          </a:p>
          <a:p>
            <a:endParaRPr lang="uk-UA" sz="1600" dirty="0"/>
          </a:p>
        </p:txBody>
      </p:sp>
      <p:sp>
        <p:nvSpPr>
          <p:cNvPr id="4" name="Підзаголовок 2">
            <a:extLst>
              <a:ext uri="{FF2B5EF4-FFF2-40B4-BE49-F238E27FC236}">
                <a16:creationId xmlns:a16="http://schemas.microsoft.com/office/drawing/2014/main" id="{A021E4F0-CD5A-9CC1-3CBD-936007141136}"/>
              </a:ext>
            </a:extLst>
          </p:cNvPr>
          <p:cNvSpPr txBox="1">
            <a:spLocks/>
          </p:cNvSpPr>
          <p:nvPr/>
        </p:nvSpPr>
        <p:spPr>
          <a:xfrm>
            <a:off x="1154955" y="3429000"/>
            <a:ext cx="4796666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uk-UA" b="1" dirty="0"/>
              <a:t>Спринт 2: «Аудит вимог і стратегія тестування»</a:t>
            </a:r>
            <a:endParaRPr lang="uk-UA" sz="1600" dirty="0"/>
          </a:p>
          <a:p>
            <a:r>
              <a:rPr lang="uk-UA" b="1" dirty="0" err="1"/>
              <a:t>Інкремент</a:t>
            </a:r>
            <a:r>
              <a:rPr lang="uk-UA" b="1" dirty="0"/>
              <a:t>:</a:t>
            </a:r>
            <a:r>
              <a:rPr lang="uk-UA" dirty="0"/>
              <a:t> Досьє якості v2 — «Реєстр дефектів вимог + виправлена </a:t>
            </a:r>
            <a:r>
              <a:rPr lang="en-US" dirty="0"/>
              <a:t>SRS + </a:t>
            </a:r>
            <a:r>
              <a:rPr lang="uk-UA" dirty="0"/>
              <a:t>План тестування» </a:t>
            </a:r>
            <a:endParaRPr lang="uk-UA" sz="1600" dirty="0">
              <a:effectLst/>
            </a:endParaRPr>
          </a:p>
        </p:txBody>
      </p:sp>
      <p:sp>
        <p:nvSpPr>
          <p:cNvPr id="5" name="Підзаголовок 2">
            <a:extLst>
              <a:ext uri="{FF2B5EF4-FFF2-40B4-BE49-F238E27FC236}">
                <a16:creationId xmlns:a16="http://schemas.microsoft.com/office/drawing/2014/main" id="{14F8F895-AAF3-6D1C-D93E-80C0DC77E95F}"/>
              </a:ext>
            </a:extLst>
          </p:cNvPr>
          <p:cNvSpPr txBox="1">
            <a:spLocks/>
          </p:cNvSpPr>
          <p:nvPr/>
        </p:nvSpPr>
        <p:spPr>
          <a:xfrm>
            <a:off x="6376660" y="3436179"/>
            <a:ext cx="4796666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uk-UA" sz="1600" dirty="0">
              <a:effectLst/>
            </a:endParaRPr>
          </a:p>
        </p:txBody>
      </p:sp>
      <p:sp>
        <p:nvSpPr>
          <p:cNvPr id="11" name="Підзаголовок 2">
            <a:extLst>
              <a:ext uri="{FF2B5EF4-FFF2-40B4-BE49-F238E27FC236}">
                <a16:creationId xmlns:a16="http://schemas.microsoft.com/office/drawing/2014/main" id="{0578A5EF-961B-4959-37C1-3210AFB07B67}"/>
              </a:ext>
            </a:extLst>
          </p:cNvPr>
          <p:cNvSpPr txBox="1">
            <a:spLocks/>
          </p:cNvSpPr>
          <p:nvPr/>
        </p:nvSpPr>
        <p:spPr>
          <a:xfrm>
            <a:off x="6240381" y="3421820"/>
            <a:ext cx="4997114" cy="198837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uk-UA" sz="2300" b="1" dirty="0"/>
              <a:t>Склад команди: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uk-UA" b="1" dirty="0"/>
              <a:t>Керівник тестування </a:t>
            </a:r>
            <a:r>
              <a:rPr lang="uk-UA" dirty="0"/>
              <a:t>— </a:t>
            </a:r>
            <a:r>
              <a:rPr lang="uk-UA" dirty="0" err="1"/>
              <a:t>Блащак</a:t>
            </a:r>
            <a:r>
              <a:rPr lang="uk-UA" dirty="0"/>
              <a:t> Петро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uk-UA" b="1" dirty="0"/>
              <a:t>Тест-аналітик</a:t>
            </a:r>
            <a:r>
              <a:rPr lang="uk-UA" dirty="0"/>
              <a:t> — Коломієць Софія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uk-UA" b="1" dirty="0"/>
              <a:t>Інженер з тестування </a:t>
            </a:r>
            <a:r>
              <a:rPr lang="uk-UA" dirty="0"/>
              <a:t>— </a:t>
            </a:r>
            <a:r>
              <a:rPr lang="uk-UA" dirty="0" err="1"/>
              <a:t>Топалов</a:t>
            </a:r>
            <a:r>
              <a:rPr lang="uk-UA" dirty="0"/>
              <a:t> Олександр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uk-UA" b="1" dirty="0" err="1"/>
              <a:t>Скрам</a:t>
            </a:r>
            <a:r>
              <a:rPr lang="uk-UA" b="1" dirty="0"/>
              <a:t>-майстер / рецензент </a:t>
            </a:r>
            <a:r>
              <a:rPr lang="uk-UA" dirty="0"/>
              <a:t>— Цвілій Влада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uk-UA" b="1" dirty="0"/>
              <a:t>Аудитор-опонент</a:t>
            </a:r>
            <a:r>
              <a:rPr lang="uk-UA" dirty="0"/>
              <a:t> — </a:t>
            </a:r>
            <a:r>
              <a:rPr lang="uk-UA" dirty="0" err="1"/>
              <a:t>Візгін</a:t>
            </a:r>
            <a:r>
              <a:rPr lang="uk-UA" dirty="0"/>
              <a:t> Климент</a:t>
            </a:r>
          </a:p>
        </p:txBody>
      </p:sp>
    </p:spTree>
    <p:extLst>
      <p:ext uri="{BB962C8B-B14F-4D97-AF65-F5344CB8AC3E}">
        <p14:creationId xmlns:p14="http://schemas.microsoft.com/office/powerpoint/2010/main" val="3460480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804B9-EEBC-7560-2E20-CA5A793D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55240"/>
          </a:xfrm>
        </p:spPr>
        <p:txBody>
          <a:bodyPr/>
          <a:lstStyle/>
          <a:p>
            <a:r>
              <a:rPr lang="uk-UA" dirty="0"/>
              <a:t>Знайдені дефекти</a:t>
            </a:r>
            <a:br>
              <a:rPr lang="uk-UA" dirty="0"/>
            </a:br>
            <a:r>
              <a:rPr lang="uk-UA" sz="1600" dirty="0"/>
              <a:t>Розділ 1 </a:t>
            </a:r>
            <a:r>
              <a:rPr lang="en-US" sz="1600" dirty="0"/>
              <a:t>“</a:t>
            </a:r>
            <a:r>
              <a:rPr lang="uk-UA" sz="1600" dirty="0"/>
              <a:t>Вступ</a:t>
            </a:r>
            <a:r>
              <a:rPr lang="en-US" sz="1600" dirty="0"/>
              <a:t>”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5295F7-A266-2EF9-DB68-75FCCFA487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303695"/>
              </p:ext>
            </p:extLst>
          </p:nvPr>
        </p:nvGraphicFramePr>
        <p:xfrm>
          <a:off x="729917" y="1507958"/>
          <a:ext cx="10627898" cy="4138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7744">
                  <a:extLst>
                    <a:ext uri="{9D8B030D-6E8A-4147-A177-3AD203B41FA5}">
                      <a16:colId xmlns:a16="http://schemas.microsoft.com/office/drawing/2014/main" val="1389624613"/>
                    </a:ext>
                  </a:extLst>
                </a:gridCol>
                <a:gridCol w="1150844">
                  <a:extLst>
                    <a:ext uri="{9D8B030D-6E8A-4147-A177-3AD203B41FA5}">
                      <a16:colId xmlns:a16="http://schemas.microsoft.com/office/drawing/2014/main" val="737174206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3545004298"/>
                    </a:ext>
                  </a:extLst>
                </a:gridCol>
                <a:gridCol w="3575930">
                  <a:extLst>
                    <a:ext uri="{9D8B030D-6E8A-4147-A177-3AD203B41FA5}">
                      <a16:colId xmlns:a16="http://schemas.microsoft.com/office/drawing/2014/main" val="2432246240"/>
                    </a:ext>
                  </a:extLst>
                </a:gridCol>
                <a:gridCol w="4148348">
                  <a:extLst>
                    <a:ext uri="{9D8B030D-6E8A-4147-A177-3AD203B41FA5}">
                      <a16:colId xmlns:a16="http://schemas.microsoft.com/office/drawing/2014/main" val="1675708235"/>
                    </a:ext>
                  </a:extLst>
                </a:gridCol>
              </a:tblGrid>
              <a:tr h="33441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№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ID вимоги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Критерій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Опис дефекту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Пропозиція виправлення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extLst>
                  <a:ext uri="{0D108BD9-81ED-4DB2-BD59-A6C34878D82A}">
                    <a16:rowId xmlns:a16="http://schemas.microsoft.com/office/drawing/2014/main" val="1750162752"/>
                  </a:ext>
                </a:extLst>
              </a:tr>
              <a:tr h="8825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розд. 1.2 (Обсяг)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Повнота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Неповний перелік модулів: у вимозі GUI-30 в головному меню присутній пункт «Maintenance», проте в розділі 1.2 цей модуль взагалі не згаданий ні серед підтримуваних, ні серед виключених з версії 1.0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Доповнити друге речення розділу 1.2: «Модулі Performance, Directory, Maintenance, Claim і Buzz у версії 1.0 не специфікуються».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020324556"/>
                  </a:ext>
                </a:extLst>
              </a:tr>
              <a:tr h="8825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розд. 1.3 (Терміни)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Повнота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 вимогах F-70 та GUI-70 вживається функціонал вибору «часткових днів» («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Partial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Days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»), проте у словнику термінів 1.3 це поняття відсутнє, через що не визначено допустимі частки дня (п. 1, 4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Додати до таблиці 1.3 термін: «Часткові дні (Partial Days) — поділ робочого дня відпустки на частини (пів дня / 0.5 дня)».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43228150"/>
                  </a:ext>
                </a:extLst>
              </a:tr>
              <a:tr h="115667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розд. 1.3 (термін «Баланс відпустки»)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Несуперечливість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Визначення терміна в 1.3 («Ліміт мінус використані, заплановані дні та дні у заявках, що очікують погодження») прямо суперечить другому реченню вимоги F-110 («Заявки зі статусом Pending Approval не впливають на баланс до їх погодження») (п. 2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Узгодити з логікою системи: у вимозі F-110 вилучити суперечливе речення; дні у заявках Pending Approval резервують баланс згідно з визначенням 1.3.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945891353"/>
                  </a:ext>
                </a:extLst>
              </a:tr>
              <a:tr h="8825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розд. 1.3 (терміни)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Однозначність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Дублювання сутностей: у 1.3 визначено «Табельний номер (Employee Id)», у вимогах F-40 і F-50 вживається «табельний номер», а у вимозі F-60 цей самий параметр названо «код працівника» (п. 5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Забезпечити єдину термінологію в усьому документі: у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вимозі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F-60 замінити «код працівника» на «табельний номер».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50865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957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97BAD-9E04-D5F3-4A1A-5C9884AA2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A40DD-3805-326A-F880-DF0EE5E53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55240"/>
          </a:xfrm>
        </p:spPr>
        <p:txBody>
          <a:bodyPr/>
          <a:lstStyle/>
          <a:p>
            <a:r>
              <a:rPr lang="uk-UA" dirty="0"/>
              <a:t>Знайдені дефекти</a:t>
            </a:r>
            <a:br>
              <a:rPr lang="uk-UA" dirty="0"/>
            </a:br>
            <a:r>
              <a:rPr lang="uk-UA" sz="1600" dirty="0"/>
              <a:t>Розділ </a:t>
            </a:r>
            <a:r>
              <a:rPr lang="en-US" sz="1600" dirty="0"/>
              <a:t>2</a:t>
            </a:r>
            <a:r>
              <a:rPr lang="uk-UA" sz="1600" dirty="0"/>
              <a:t> </a:t>
            </a:r>
            <a:r>
              <a:rPr lang="en-US" sz="1600" dirty="0"/>
              <a:t>“</a:t>
            </a:r>
            <a:r>
              <a:rPr lang="uk-UA" sz="1600" dirty="0"/>
              <a:t>Загальний опис</a:t>
            </a:r>
            <a:r>
              <a:rPr lang="en-US" sz="1600" dirty="0"/>
              <a:t>”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7F6D415-D9F5-2136-CF78-D223C9AC0D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248572"/>
              </p:ext>
            </p:extLst>
          </p:nvPr>
        </p:nvGraphicFramePr>
        <p:xfrm>
          <a:off x="729917" y="1507958"/>
          <a:ext cx="10627898" cy="3272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7744">
                  <a:extLst>
                    <a:ext uri="{9D8B030D-6E8A-4147-A177-3AD203B41FA5}">
                      <a16:colId xmlns:a16="http://schemas.microsoft.com/office/drawing/2014/main" val="1389624613"/>
                    </a:ext>
                  </a:extLst>
                </a:gridCol>
                <a:gridCol w="1046571">
                  <a:extLst>
                    <a:ext uri="{9D8B030D-6E8A-4147-A177-3AD203B41FA5}">
                      <a16:colId xmlns:a16="http://schemas.microsoft.com/office/drawing/2014/main" val="737174206"/>
                    </a:ext>
                  </a:extLst>
                </a:gridCol>
                <a:gridCol w="1211179">
                  <a:extLst>
                    <a:ext uri="{9D8B030D-6E8A-4147-A177-3AD203B41FA5}">
                      <a16:colId xmlns:a16="http://schemas.microsoft.com/office/drawing/2014/main" val="3545004298"/>
                    </a:ext>
                  </a:extLst>
                </a:gridCol>
                <a:gridCol w="3624056">
                  <a:extLst>
                    <a:ext uri="{9D8B030D-6E8A-4147-A177-3AD203B41FA5}">
                      <a16:colId xmlns:a16="http://schemas.microsoft.com/office/drawing/2014/main" val="2432246240"/>
                    </a:ext>
                  </a:extLst>
                </a:gridCol>
                <a:gridCol w="4148348">
                  <a:extLst>
                    <a:ext uri="{9D8B030D-6E8A-4147-A177-3AD203B41FA5}">
                      <a16:colId xmlns:a16="http://schemas.microsoft.com/office/drawing/2014/main" val="1675708235"/>
                    </a:ext>
                  </a:extLst>
                </a:gridCol>
              </a:tblGrid>
              <a:tr h="3360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№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ID вимоги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Критерій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Опис дефекту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Пропозиція виправлення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extLst>
                  <a:ext uri="{0D108BD9-81ED-4DB2-BD59-A6C34878D82A}">
                    <a16:rowId xmlns:a16="http://schemas.microsoft.com/office/drawing/2014/main" val="1750162752"/>
                  </a:ext>
                </a:extLst>
              </a:tr>
              <a:tr h="8870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розд. 2.1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Повнота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 таблиці 2.1 (Користувачі та ролі) відсутній розподіл обов'язків щодо фінансових розрахунків: розділ 5 містить клас PayrollCalculator, але права на нарахування зарплати та компенсацій не закріплені за жодною роллю (п. 2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Узгодити за рішенням з аркуша «Спірні»: не створювати нову роль Бухгалтера; у таблиці 2.1 до прав ролей HR-менеджер та Адміністратор прямо додати повноваження нарахування заробітної плати, податків та компенсацій (Payroll).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020324556"/>
                  </a:ext>
                </a:extLst>
              </a:tr>
              <a:tr h="8870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6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розд. 2.2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Однозначність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 розділі 2.2 встановлено некоректний формат дати «yyyy-dd-mm» (рік-день-місяць), що допускає неоднозначну інтерпретацію чисел (наприклад, 2026-05-06) та суперечить стандарту ISO-8601 (yyyy-MM-dd), прийнятому в Java-модулі та світових HRM-системах (п. 4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Замінити формулювання на: «Формат дат у полях і підказках — yyyy-MM-dd (Рік-Місяць-День)».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43228150"/>
                  </a:ext>
                </a:extLst>
              </a:tr>
              <a:tr h="116247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7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розд. 2.3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Несуперечливість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Пункт 2 розділу 2.3 стверджує про відсутність інтеграцій із зовнішніми сервісами. Водночас вимога F-90 вимагає сповіщень через SMS та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Viber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(п. 2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Узгодити специфікацію: з вимоги F-90 вилучити згадки SMS та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Viber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, залишивши внутрішні системні сповіщення та e-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mail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945891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4939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2681D-D8C8-8536-2E52-8CCC3CCD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0AB7C-3810-50EE-E208-7A15864A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55240"/>
          </a:xfrm>
        </p:spPr>
        <p:txBody>
          <a:bodyPr/>
          <a:lstStyle/>
          <a:p>
            <a:r>
              <a:rPr lang="uk-UA" dirty="0"/>
              <a:t>Знайдені дефекти</a:t>
            </a:r>
            <a:br>
              <a:rPr lang="uk-UA" dirty="0"/>
            </a:br>
            <a:r>
              <a:rPr lang="uk-UA" sz="1600" dirty="0"/>
              <a:t>Розділ 3 </a:t>
            </a:r>
            <a:r>
              <a:rPr lang="en-US" sz="1600" dirty="0"/>
              <a:t>“</a:t>
            </a:r>
            <a:r>
              <a:rPr lang="uk-UA" sz="1600" dirty="0"/>
              <a:t>Функціональні вимоги</a:t>
            </a:r>
            <a:r>
              <a:rPr lang="en-US" sz="1600" dirty="0"/>
              <a:t>”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8327979-9CD7-23DA-F880-1CD1121958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890169"/>
              </p:ext>
            </p:extLst>
          </p:nvPr>
        </p:nvGraphicFramePr>
        <p:xfrm>
          <a:off x="729917" y="1507959"/>
          <a:ext cx="10627898" cy="4451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7744">
                  <a:extLst>
                    <a:ext uri="{9D8B030D-6E8A-4147-A177-3AD203B41FA5}">
                      <a16:colId xmlns:a16="http://schemas.microsoft.com/office/drawing/2014/main" val="1389624613"/>
                    </a:ext>
                  </a:extLst>
                </a:gridCol>
                <a:gridCol w="1150844">
                  <a:extLst>
                    <a:ext uri="{9D8B030D-6E8A-4147-A177-3AD203B41FA5}">
                      <a16:colId xmlns:a16="http://schemas.microsoft.com/office/drawing/2014/main" val="737174206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3545004298"/>
                    </a:ext>
                  </a:extLst>
                </a:gridCol>
                <a:gridCol w="3575930">
                  <a:extLst>
                    <a:ext uri="{9D8B030D-6E8A-4147-A177-3AD203B41FA5}">
                      <a16:colId xmlns:a16="http://schemas.microsoft.com/office/drawing/2014/main" val="2432246240"/>
                    </a:ext>
                  </a:extLst>
                </a:gridCol>
                <a:gridCol w="4148348">
                  <a:extLst>
                    <a:ext uri="{9D8B030D-6E8A-4147-A177-3AD203B41FA5}">
                      <a16:colId xmlns:a16="http://schemas.microsoft.com/office/drawing/2014/main" val="1675708235"/>
                    </a:ext>
                  </a:extLst>
                </a:gridCol>
              </a:tblGrid>
              <a:tr h="29647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№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ID вимоги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Критерій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>
                          <a:effectLst/>
                        </a:rPr>
                        <a:t>Опис дефекту</a:t>
                      </a:r>
                      <a:endParaRPr lang="uk-UA" sz="900" b="1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Пропозиція виправлення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extLst>
                  <a:ext uri="{0D108BD9-81ED-4DB2-BD59-A6C34878D82A}">
                    <a16:rowId xmlns:a16="http://schemas.microsoft.com/office/drawing/2014/main" val="1750162752"/>
                  </a:ext>
                </a:extLst>
              </a:tr>
              <a:tr h="78244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8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F-50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Здійсненність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ДПСУ не має відкритого API для перевірки належності РНОКПП фізичній особі у режимі реального часу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Узгодити за рішенням з аркуша «Спірні»: вилучити онлайн-запит до ДПСУ; реалізувати алгоритмічну валідацію формату (10 цифр) та контрольного розряду згідно з BL-80.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020324556"/>
                  </a:ext>
                </a:extLst>
              </a:tr>
              <a:tr h="78244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F-70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Несуперечливість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Розбіжність одиниць підрахунку: у F-70 заявка обчислюється як кількість «календарних днів», тоді як бізнес-логіка BL-30 (LeaveCalculator.durationDays) рахує виключно робочі дні (п. 2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Узгодити за рішенням з аркуша «Спірні»: у F-70 зберегти календарні дні відповідно до законодавства; у вимозі BL-30 скоригувати логіку методу LeaveCalculator.durationDays — рахувати календарні дні між датами включно, виключаючи лише офіційні державні свята.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43228150"/>
                  </a:ext>
                </a:extLst>
              </a:tr>
              <a:tr h="102543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F-80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Однозначність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Фраза «може скасувати заявку, поки це ще можливо» є розмитою і не визначає точних умов (п. 2, 4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«Працівник може скасувати заявку, якщо вона перебуває у статусі Pending Approval або Scheduled до настання дати її початку (потребує підтвердження замовником)».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945891353"/>
                  </a:ext>
                </a:extLst>
              </a:tr>
              <a:tr h="78244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F-90 (друга)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Простежуваність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Дві функціональні вимоги мають однаковий ідентифікатор F-90, при цьому вимога з кодом F-100 пропущена (п. 2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Змінити ідентифікатор другої вимоги F-90 (щодо призначення відпустки HR-менеджером через Leave → Assign) на F-100.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50865245"/>
                  </a:ext>
                </a:extLst>
              </a:tr>
              <a:tr h="78244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F-130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Здійсненність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Публікація вакансії на «всіх провідних порталах України за 1 хвилину» технічно нездійсненна без узгоджених платних API та додаткових полів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«Активна вакансія зберігається зі статусом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Published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і доступна для внутрішнього перегляду; публікація на зовнішніх ресурсах виконується HR-менеджером вручну (потребує підтвердження замовником)».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475195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68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994B-F9D9-2932-CD1F-09029EB7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62093-EE55-6A10-C78E-35DFBA67C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55240"/>
          </a:xfrm>
        </p:spPr>
        <p:txBody>
          <a:bodyPr/>
          <a:lstStyle/>
          <a:p>
            <a:r>
              <a:rPr lang="uk-UA" dirty="0"/>
              <a:t>Знайдені дефекти</a:t>
            </a:r>
            <a:br>
              <a:rPr lang="uk-UA" dirty="0"/>
            </a:br>
            <a:r>
              <a:rPr lang="uk-UA" sz="1600" dirty="0"/>
              <a:t>Розділ 4 </a:t>
            </a:r>
            <a:r>
              <a:rPr lang="en-US" sz="1600" dirty="0"/>
              <a:t>“</a:t>
            </a:r>
            <a:r>
              <a:rPr lang="uk-UA" sz="1600" dirty="0"/>
              <a:t>Вимоги до інтерфейсу користувача</a:t>
            </a:r>
            <a:r>
              <a:rPr lang="en-US" sz="1600" dirty="0"/>
              <a:t>”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BECDA99-252A-8B0C-DDEE-8F3B771F4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243498"/>
              </p:ext>
            </p:extLst>
          </p:nvPr>
        </p:nvGraphicFramePr>
        <p:xfrm>
          <a:off x="729917" y="1507959"/>
          <a:ext cx="10627898" cy="50291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7744">
                  <a:extLst>
                    <a:ext uri="{9D8B030D-6E8A-4147-A177-3AD203B41FA5}">
                      <a16:colId xmlns:a16="http://schemas.microsoft.com/office/drawing/2014/main" val="1389624613"/>
                    </a:ext>
                  </a:extLst>
                </a:gridCol>
                <a:gridCol w="1150844">
                  <a:extLst>
                    <a:ext uri="{9D8B030D-6E8A-4147-A177-3AD203B41FA5}">
                      <a16:colId xmlns:a16="http://schemas.microsoft.com/office/drawing/2014/main" val="737174206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3545004298"/>
                    </a:ext>
                  </a:extLst>
                </a:gridCol>
                <a:gridCol w="3575930">
                  <a:extLst>
                    <a:ext uri="{9D8B030D-6E8A-4147-A177-3AD203B41FA5}">
                      <a16:colId xmlns:a16="http://schemas.microsoft.com/office/drawing/2014/main" val="2432246240"/>
                    </a:ext>
                  </a:extLst>
                </a:gridCol>
                <a:gridCol w="4148348">
                  <a:extLst>
                    <a:ext uri="{9D8B030D-6E8A-4147-A177-3AD203B41FA5}">
                      <a16:colId xmlns:a16="http://schemas.microsoft.com/office/drawing/2014/main" val="1675708235"/>
                    </a:ext>
                  </a:extLst>
                </a:gridCol>
              </a:tblGrid>
              <a:tr h="28486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№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ID вимоги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Критерій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>
                          <a:effectLst/>
                        </a:rPr>
                        <a:t>Опис дефекту</a:t>
                      </a:r>
                      <a:endParaRPr lang="uk-UA" sz="900" b="1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Пропозиція виправлення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extLst>
                  <a:ext uri="{0D108BD9-81ED-4DB2-BD59-A6C34878D82A}">
                    <a16:rowId xmlns:a16="http://schemas.microsoft.com/office/drawing/2014/main" val="1750162752"/>
                  </a:ext>
                </a:extLst>
              </a:tr>
              <a:tr h="75181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GUI-20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Несуперечливість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 GUI-20 вказано текст повідомлення про невдалий вхід «Wrong username or password», що суперечить вимозі F-20, де зафіксовано «Invalid credentials» (п. 2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Узгодити текст повідомлення: встановити в GUI-20 текст «Invalid credentials», як у вимозі F-20 та реалізації demo.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020324556"/>
                  </a:ext>
                </a:extLst>
              </a:tr>
              <a:tr h="75181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GUI-50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Несуперечливість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Вимоги до пароля в GUI-50 (від 7 символів, мала літера, цифра) суперечать правилам безпеки S-10 (від 8 символів, велика літера, спецсимвол) (п. 2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Узгодити з політикою безпеки: встановити в GUI-50 мінімум 8 символів, обов'язкову наявність однієї великої літери та спецсимволу (потребує підтвердження замовником).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43228150"/>
                  </a:ext>
                </a:extLst>
              </a:tr>
              <a:tr h="98528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GUI-50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Повнота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 описано поведінку та точне місце відображення валідаційних повідомлень складності пароля під час введення (п. 5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Доповнити вимогу: «Повідомлення про невідповідність складності пароля відображаються червоним текстом безпосередньо під полем введення в реальному часі».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945891353"/>
                  </a:ext>
                </a:extLst>
              </a:tr>
              <a:tr h="75181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16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GUI-60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Тестопридатність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Вимога «виглядати охайно і читатися без зусиль» містить якісні оцінки без вимірюваних критеріїв успіху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Замінити на вимірювані критерії: «Шрифт таблиці 12pt Arial, текст контрастний (чорний на білому фоні), висота рядка не менше 36px, назви стовпців виділені жирним шрифтом».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50865245"/>
                  </a:ext>
                </a:extLst>
              </a:tr>
              <a:tr h="75181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17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GUI-80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Тестопридатність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Характеристика «оновлюються швидко» не підлягає об'єктивній перевірці тест-кейсом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Замінити на: «Підсумковий стовпець і рядок оновлюються не пізніше ніж через 0.5 с після зміни значення в будь-якій комірці».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475195810"/>
                  </a:ext>
                </a:extLst>
              </a:tr>
              <a:tr h="75181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18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розд. 4, між GUI-80 і GUI-90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Простежуваність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Вимога щодо повідомлення про збереження («Після успішного збереження форми...») не має унікального ідентифікатора (п. 2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Присвоїти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вимозі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проміжний ідентифікатор GUI-85.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53070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28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1CEBE-30AD-7E30-AC28-EFF69CD3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3EBF0-F291-21F3-402D-31F805AF1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55240"/>
          </a:xfrm>
        </p:spPr>
        <p:txBody>
          <a:bodyPr/>
          <a:lstStyle/>
          <a:p>
            <a:r>
              <a:rPr lang="uk-UA" dirty="0"/>
              <a:t>Знайдені дефекти</a:t>
            </a:r>
            <a:br>
              <a:rPr lang="uk-UA" dirty="0"/>
            </a:br>
            <a:r>
              <a:rPr lang="uk-UA" sz="1600" dirty="0"/>
              <a:t>Розділ 5 </a:t>
            </a:r>
            <a:r>
              <a:rPr lang="en-US" sz="1600" dirty="0"/>
              <a:t>“</a:t>
            </a:r>
            <a:r>
              <a:rPr lang="uk-UA" sz="1600" dirty="0"/>
              <a:t>Вимоги до бізнес-логіки модуля</a:t>
            </a:r>
            <a:r>
              <a:rPr lang="en-US" sz="1600" dirty="0"/>
              <a:t>”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A69C72C-78B9-2938-A2FA-B2F7824CB1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368086"/>
              </p:ext>
            </p:extLst>
          </p:nvPr>
        </p:nvGraphicFramePr>
        <p:xfrm>
          <a:off x="729917" y="1507958"/>
          <a:ext cx="10627898" cy="3272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7744">
                  <a:extLst>
                    <a:ext uri="{9D8B030D-6E8A-4147-A177-3AD203B41FA5}">
                      <a16:colId xmlns:a16="http://schemas.microsoft.com/office/drawing/2014/main" val="1389624613"/>
                    </a:ext>
                  </a:extLst>
                </a:gridCol>
                <a:gridCol w="1046571">
                  <a:extLst>
                    <a:ext uri="{9D8B030D-6E8A-4147-A177-3AD203B41FA5}">
                      <a16:colId xmlns:a16="http://schemas.microsoft.com/office/drawing/2014/main" val="737174206"/>
                    </a:ext>
                  </a:extLst>
                </a:gridCol>
                <a:gridCol w="1211179">
                  <a:extLst>
                    <a:ext uri="{9D8B030D-6E8A-4147-A177-3AD203B41FA5}">
                      <a16:colId xmlns:a16="http://schemas.microsoft.com/office/drawing/2014/main" val="3545004298"/>
                    </a:ext>
                  </a:extLst>
                </a:gridCol>
                <a:gridCol w="3624056">
                  <a:extLst>
                    <a:ext uri="{9D8B030D-6E8A-4147-A177-3AD203B41FA5}">
                      <a16:colId xmlns:a16="http://schemas.microsoft.com/office/drawing/2014/main" val="2432246240"/>
                    </a:ext>
                  </a:extLst>
                </a:gridCol>
                <a:gridCol w="4148348">
                  <a:extLst>
                    <a:ext uri="{9D8B030D-6E8A-4147-A177-3AD203B41FA5}">
                      <a16:colId xmlns:a16="http://schemas.microsoft.com/office/drawing/2014/main" val="1675708235"/>
                    </a:ext>
                  </a:extLst>
                </a:gridCol>
              </a:tblGrid>
              <a:tr h="3360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№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ID вимоги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Критерій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Опис дефекту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Пропозиція виправлення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extLst>
                  <a:ext uri="{0D108BD9-81ED-4DB2-BD59-A6C34878D82A}">
                    <a16:rowId xmlns:a16="http://schemas.microsoft.com/office/drawing/2014/main" val="1750162752"/>
                  </a:ext>
                </a:extLst>
              </a:tr>
              <a:tr h="8870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BL-40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Несуперечливість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Правило розділу 5 вимагає викидати IllegalArgumentException для від'ємних значень, а формула BL-40 для значень менше 1 повертає boolean false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Узгодити логіку: «Якщо balance &lt; 0 або duration &lt; 0 — викидати IllegalArgumentException; повертати true лише якщо duration ≥ 1 і duration ≤ balance, інакше false».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020324556"/>
                  </a:ext>
                </a:extLst>
              </a:tr>
              <a:tr h="8870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BL-50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Тестопридатність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Твердження «Розрахунок має працювати без помилок для будь-яких вхідних даних» містить слово-маркер «без помилок» і є неперевірюваним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Вилучити твердження і вказати граничні межі: «Метод обробляє значення gross у діапазоні від 0.01 до 1 000 000.00 грн; для значень поза межами або null викидає IllegalArgumentException».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43228150"/>
                  </a:ext>
                </a:extLst>
              </a:tr>
              <a:tr h="116247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BL-80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Повнота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 описано реакцію методу validate на передачу значення null у поля email та taxId, вказано реакцію лише на дати (п. 5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Доповнити: «У разі передачі значення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null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замість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email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або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taxId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метод додає відповідні коди помилок EMAIL та TAX_ID до списку помилок».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945891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696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4115B-D9E1-C60A-DB14-2C80C50F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1B388B-D2B2-2C26-DA51-A72C24DC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55240"/>
          </a:xfrm>
        </p:spPr>
        <p:txBody>
          <a:bodyPr/>
          <a:lstStyle/>
          <a:p>
            <a:r>
              <a:rPr lang="uk-UA" dirty="0"/>
              <a:t>Знайдені дефекти</a:t>
            </a:r>
            <a:br>
              <a:rPr lang="uk-UA" dirty="0"/>
            </a:br>
            <a:r>
              <a:rPr lang="uk-UA" sz="1600" dirty="0"/>
              <a:t>Розділ 6 </a:t>
            </a:r>
            <a:r>
              <a:rPr lang="en-US" sz="1600" dirty="0"/>
              <a:t>“</a:t>
            </a:r>
            <a:r>
              <a:rPr lang="uk-UA" sz="1600" dirty="0"/>
              <a:t>Нефункціональні вимоги</a:t>
            </a:r>
            <a:r>
              <a:rPr lang="en-US" sz="1600" dirty="0"/>
              <a:t>”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77FAD60-D039-70BB-E483-6ECD443A56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8267960"/>
              </p:ext>
            </p:extLst>
          </p:nvPr>
        </p:nvGraphicFramePr>
        <p:xfrm>
          <a:off x="729917" y="1507959"/>
          <a:ext cx="10627898" cy="48973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7744">
                  <a:extLst>
                    <a:ext uri="{9D8B030D-6E8A-4147-A177-3AD203B41FA5}">
                      <a16:colId xmlns:a16="http://schemas.microsoft.com/office/drawing/2014/main" val="1389624613"/>
                    </a:ext>
                  </a:extLst>
                </a:gridCol>
                <a:gridCol w="1150844">
                  <a:extLst>
                    <a:ext uri="{9D8B030D-6E8A-4147-A177-3AD203B41FA5}">
                      <a16:colId xmlns:a16="http://schemas.microsoft.com/office/drawing/2014/main" val="737174206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3545004298"/>
                    </a:ext>
                  </a:extLst>
                </a:gridCol>
                <a:gridCol w="3575930">
                  <a:extLst>
                    <a:ext uri="{9D8B030D-6E8A-4147-A177-3AD203B41FA5}">
                      <a16:colId xmlns:a16="http://schemas.microsoft.com/office/drawing/2014/main" val="2432246240"/>
                    </a:ext>
                  </a:extLst>
                </a:gridCol>
                <a:gridCol w="4148348">
                  <a:extLst>
                    <a:ext uri="{9D8B030D-6E8A-4147-A177-3AD203B41FA5}">
                      <a16:colId xmlns:a16="http://schemas.microsoft.com/office/drawing/2014/main" val="1675708235"/>
                    </a:ext>
                  </a:extLst>
                </a:gridCol>
              </a:tblGrid>
              <a:tr h="2413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№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ID вимоги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Критерій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Опис дефекту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Пропозиція виправлення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extLst>
                  <a:ext uri="{0D108BD9-81ED-4DB2-BD59-A6C34878D82A}">
                    <a16:rowId xmlns:a16="http://schemas.microsoft.com/office/drawing/2014/main" val="1750162752"/>
                  </a:ext>
                </a:extLst>
              </a:tr>
              <a:tr h="63688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P-10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Здійсненність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Вимога відкриття будь-якої сторінки за 0.1 с «незалежно від каналу зв'язку і кількості записів» технічно нездійсненна для вебзастосунку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Встановити реалістичну умову: «Час завантаження будь-якої сторінки не перевищує 2.0 с за швидкості інтернет-з'єднання від 10 Мбіт/с та кількості записів у базі до 10 000».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020324556"/>
                  </a:ext>
                </a:extLst>
              </a:tr>
              <a:tr h="63688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P-20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Тестопридатність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Визначення «велику кількість» та «без помітної деградації» не містять числових критеріїв для тестування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«Система витримує навантаження до 100 одночасних користувачів із середнім часом відповіді сервера не більше 2.0 с (потребує підтвердження замовником)».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43228150"/>
                  </a:ext>
                </a:extLst>
              </a:tr>
              <a:tr h="83467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S-20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Тестопридатність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Фраза «після тривалої бездіяльності» не містить часового інтервалу, неможливо визначити критерій проходження тесту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Вказати конкретний таймаут: «Сесія користувача автоматично завершується після 15 хвилин бездіяльності (відсутності взаємодії з інтерфейсом)».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945891353"/>
                  </a:ext>
                </a:extLst>
              </a:tr>
              <a:tr h="63688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U-10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Простежуваність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Вимога U-10 повністю дублює вимогу до інтерфейсу GUI-40 за змістом (п. 1, 5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Вимогу U-10 вилучити зі специфікації як дублікат (залишити помітку в журналі змін); посилання перенаправити на GUI-40. Номери вимог не зсувати.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50865245"/>
                  </a:ext>
                </a:extLst>
              </a:tr>
              <a:tr h="63688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26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U-20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Тестопридатність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Неможливо об'єктивно виміряти «інтуїтивну зрозумілість» без метрик юзабіліті-тестування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«Новий працівник без попереднього інструктажу успішно оформлює заявку не довше ніж за 3 хв (перевірка на вибірці з 5 користувачів, критерій успіху — 4 з 5)».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475195810"/>
                  </a:ext>
                </a:extLst>
              </a:tr>
              <a:tr h="63688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27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D-10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Повнота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Посилання на неіснуючий зовнішній документ компанії «ПП-СТД-07» (п. 3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Вилучити посилання на стандарт «ПП-СТД-07»; встановити вимогу: «Користувацька довідка оформлюється у форматі Markdown і розміщується у репозиторії docs/user-guide.md».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530701303"/>
                  </a:ext>
                </a:extLst>
              </a:tr>
              <a:tr h="63688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28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D-20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Простежуваність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Посилання на неіснуючі ідентифікатори: вказано діапазон «F-10 ... F-180», тоді як у специфікації функціональні вимоги закінчуються на F-140 (п. 2, 3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Замінити діапазон на фактичний: «...для кожної функції з переліку F-10 ... F-140 із зазначенням ролі...».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23278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538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7DF253-623B-566E-A3FC-33D1B7D6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uk-UA" dirty="0"/>
              <a:t>Показові дефекти</a:t>
            </a:r>
          </a:p>
        </p:txBody>
      </p:sp>
      <p:graphicFrame>
        <p:nvGraphicFramePr>
          <p:cNvPr id="4" name="Місце для вмісту 4">
            <a:extLst>
              <a:ext uri="{FF2B5EF4-FFF2-40B4-BE49-F238E27FC236}">
                <a16:creationId xmlns:a16="http://schemas.microsoft.com/office/drawing/2014/main" id="{B9F75E72-E728-EFDE-942E-DC3E78F023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2840726"/>
              </p:ext>
            </p:extLst>
          </p:nvPr>
        </p:nvGraphicFramePr>
        <p:xfrm>
          <a:off x="729917" y="1507958"/>
          <a:ext cx="10627898" cy="3272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2841">
                  <a:extLst>
                    <a:ext uri="{9D8B030D-6E8A-4147-A177-3AD203B41FA5}">
                      <a16:colId xmlns:a16="http://schemas.microsoft.com/office/drawing/2014/main" val="1389624613"/>
                    </a:ext>
                  </a:extLst>
                </a:gridCol>
                <a:gridCol w="561474">
                  <a:extLst>
                    <a:ext uri="{9D8B030D-6E8A-4147-A177-3AD203B41FA5}">
                      <a16:colId xmlns:a16="http://schemas.microsoft.com/office/drawing/2014/main" val="737174206"/>
                    </a:ext>
                  </a:extLst>
                </a:gridCol>
                <a:gridCol w="1211179">
                  <a:extLst>
                    <a:ext uri="{9D8B030D-6E8A-4147-A177-3AD203B41FA5}">
                      <a16:colId xmlns:a16="http://schemas.microsoft.com/office/drawing/2014/main" val="3545004298"/>
                    </a:ext>
                  </a:extLst>
                </a:gridCol>
                <a:gridCol w="3624056">
                  <a:extLst>
                    <a:ext uri="{9D8B030D-6E8A-4147-A177-3AD203B41FA5}">
                      <a16:colId xmlns:a16="http://schemas.microsoft.com/office/drawing/2014/main" val="2432246240"/>
                    </a:ext>
                  </a:extLst>
                </a:gridCol>
                <a:gridCol w="4148348">
                  <a:extLst>
                    <a:ext uri="{9D8B030D-6E8A-4147-A177-3AD203B41FA5}">
                      <a16:colId xmlns:a16="http://schemas.microsoft.com/office/drawing/2014/main" val="1675708235"/>
                    </a:ext>
                  </a:extLst>
                </a:gridCol>
              </a:tblGrid>
              <a:tr h="3360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№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ID вимоги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Критерій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Опис дефекту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900" b="1" dirty="0">
                          <a:effectLst/>
                        </a:rPr>
                        <a:t>Пропозиція виправлення</a:t>
                      </a:r>
                      <a:endParaRPr lang="uk-UA" sz="900" b="1" dirty="0">
                        <a:solidFill>
                          <a:srgbClr val="1B1B1E"/>
                        </a:solidFill>
                        <a:effectLst/>
                        <a:latin typeface="Inter"/>
                      </a:endParaRPr>
                    </a:p>
                  </a:txBody>
                  <a:tcPr marL="15096" marR="15096" marT="10064" marB="10064" anchor="ctr"/>
                </a:tc>
                <a:extLst>
                  <a:ext uri="{0D108BD9-81ED-4DB2-BD59-A6C34878D82A}">
                    <a16:rowId xmlns:a16="http://schemas.microsoft.com/office/drawing/2014/main" val="1750162752"/>
                  </a:ext>
                </a:extLst>
              </a:tr>
              <a:tr h="8870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1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(очевидний)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F-90 (друга)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Простежуваність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Дві функціональні вимоги мають однаковий ідентифікатор F-90, при цьому вимога з кодом F-100 пропущена (п. 2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Змінити ідентифікатор другої вимоги F-90 (щодо призначення відпустки HR-менеджером через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Leave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→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Assign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) на F-100.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020324556"/>
                  </a:ext>
                </a:extLst>
              </a:tr>
              <a:tr h="88701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2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(спірний)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F-50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Здійсненність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ДПСУ не має відкритого API для перевірки належності РНОКПП фізичній особі у режимі реального часу (п. 1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Узгодити за рішенням з аркуша «Спірні»: вилучити онлайн-запит до ДПСУ; реалізувати алгоритмічну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валідацію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формату (10 цифр) та контрольного розряду згідно з BL-80.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243228150"/>
                  </a:ext>
                </a:extLst>
              </a:tr>
              <a:tr h="116247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3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(найважливіший для наступних </a:t>
                      </a:r>
                      <a:r>
                        <a:rPr lang="uk-UA" sz="1100" b="1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спринтів</a:t>
                      </a:r>
                      <a:r>
                        <a:rPr lang="uk-UA" sz="1100" b="1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)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GUI-50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Несуперечливість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Вимоги до пароля в GUI-50 (від 7 символів, мала літера, цифра) суперечать правилам безпеки S-10 (від 8 символів, велика літера, спецсимвол) (п. 2 чек-листа).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Узгодити з політикою безпеки: встановити в GUI-50 мінімум 8 символів, обов'язкову наявність однієї великої літери та </a:t>
                      </a:r>
                      <a:r>
                        <a:rPr lang="uk-UA" sz="1100" b="0" dirty="0" err="1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спецсимволу</a:t>
                      </a:r>
                      <a:r>
                        <a:rPr lang="uk-UA" sz="1100" b="0" dirty="0">
                          <a:solidFill>
                            <a:srgbClr val="1B1B1E"/>
                          </a:solidFill>
                          <a:effectLst/>
                          <a:latin typeface="Inter"/>
                        </a:rPr>
                        <a:t> (потребує підтвердження замовником).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945891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20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35BF2-243B-BFFE-E66D-473A71CB0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Журнал змін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2B242572-DD22-E041-B269-486D26EAEE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114332"/>
              </p:ext>
            </p:extLst>
          </p:nvPr>
        </p:nvGraphicFramePr>
        <p:xfrm>
          <a:off x="765244" y="1592565"/>
          <a:ext cx="10661511" cy="45436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3073">
                  <a:extLst>
                    <a:ext uri="{9D8B030D-6E8A-4147-A177-3AD203B41FA5}">
                      <a16:colId xmlns:a16="http://schemas.microsoft.com/office/drawing/2014/main" val="3936804717"/>
                    </a:ext>
                  </a:extLst>
                </a:gridCol>
                <a:gridCol w="1523073">
                  <a:extLst>
                    <a:ext uri="{9D8B030D-6E8A-4147-A177-3AD203B41FA5}">
                      <a16:colId xmlns:a16="http://schemas.microsoft.com/office/drawing/2014/main" val="2795247609"/>
                    </a:ext>
                  </a:extLst>
                </a:gridCol>
                <a:gridCol w="1523073">
                  <a:extLst>
                    <a:ext uri="{9D8B030D-6E8A-4147-A177-3AD203B41FA5}">
                      <a16:colId xmlns:a16="http://schemas.microsoft.com/office/drawing/2014/main" val="3751330981"/>
                    </a:ext>
                  </a:extLst>
                </a:gridCol>
                <a:gridCol w="1523073">
                  <a:extLst>
                    <a:ext uri="{9D8B030D-6E8A-4147-A177-3AD203B41FA5}">
                      <a16:colId xmlns:a16="http://schemas.microsoft.com/office/drawing/2014/main" val="2559149221"/>
                    </a:ext>
                  </a:extLst>
                </a:gridCol>
                <a:gridCol w="1523073">
                  <a:extLst>
                    <a:ext uri="{9D8B030D-6E8A-4147-A177-3AD203B41FA5}">
                      <a16:colId xmlns:a16="http://schemas.microsoft.com/office/drawing/2014/main" val="4202335575"/>
                    </a:ext>
                  </a:extLst>
                </a:gridCol>
                <a:gridCol w="1523073">
                  <a:extLst>
                    <a:ext uri="{9D8B030D-6E8A-4147-A177-3AD203B41FA5}">
                      <a16:colId xmlns:a16="http://schemas.microsoft.com/office/drawing/2014/main" val="3645159171"/>
                    </a:ext>
                  </a:extLst>
                </a:gridCol>
                <a:gridCol w="1523073">
                  <a:extLst>
                    <a:ext uri="{9D8B030D-6E8A-4147-A177-3AD203B41FA5}">
                      <a16:colId xmlns:a16="http://schemas.microsoft.com/office/drawing/2014/main" val="3997054145"/>
                    </a:ext>
                  </a:extLst>
                </a:gridCol>
              </a:tblGrid>
              <a:tr h="3294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Версія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Дата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ID вимоги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Що було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Що стало (виправлення)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№ дефекту з реєстру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Автор правки</a:t>
                      </a:r>
                    </a:p>
                  </a:txBody>
                  <a:tcPr marL="25124" marR="25124" marT="12562" marB="12562" anchor="ctr"/>
                </a:tc>
                <a:extLst>
                  <a:ext uri="{0D108BD9-81ED-4DB2-BD59-A6C34878D82A}">
                    <a16:rowId xmlns:a16="http://schemas.microsoft.com/office/drawing/2014/main" val="3027577086"/>
                  </a:ext>
                </a:extLst>
              </a:tr>
              <a:tr h="938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 dirty="0"/>
                        <a:t>1.1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08.10.2026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 dirty="0" err="1"/>
                        <a:t>розд</a:t>
                      </a:r>
                      <a:r>
                        <a:rPr lang="uk-UA" sz="1100" dirty="0"/>
                        <a:t>. 1.2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Неповний перелік модулів (без Maintenance)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Доповнено перелік модулів: включено «Maintenance» серед неспецифікованих у версії 1.0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1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Цвілій Влада, Блащак Петро, Коломієць Софія</a:t>
                      </a:r>
                    </a:p>
                  </a:txBody>
                  <a:tcPr marL="25124" marR="25124" marT="12562" marB="12562" anchor="ctr"/>
                </a:tc>
                <a:extLst>
                  <a:ext uri="{0D108BD9-81ED-4DB2-BD59-A6C34878D82A}">
                    <a16:rowId xmlns:a16="http://schemas.microsoft.com/office/drawing/2014/main" val="451808767"/>
                  </a:ext>
                </a:extLst>
              </a:tr>
              <a:tr h="10903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1.1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08.10.2026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розд. 1.3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Поняття «часткових днів» вживалося без визначення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Додано термін «Часткові дні (Partial Days) — поділ робочого дня відпустки на частини (пів дня / 0.5 дня)»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 dirty="0"/>
                        <a:t>2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Коломієць Софія, Цвілій Влада</a:t>
                      </a:r>
                    </a:p>
                  </a:txBody>
                  <a:tcPr marL="25124" marR="25124" marT="12562" marB="12562" anchor="ctr"/>
                </a:tc>
                <a:extLst>
                  <a:ext uri="{0D108BD9-81ED-4DB2-BD59-A6C34878D82A}">
                    <a16:rowId xmlns:a16="http://schemas.microsoft.com/office/drawing/2014/main" val="3426129951"/>
                  </a:ext>
                </a:extLst>
              </a:tr>
              <a:tr h="8620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1.1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08.10.2026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розд. 1.3 / F-110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Суперечність визначення балансу та впливу Pending Approval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Вилучено суперечливе речення з F-110; заявки Pending Approval резервують баланс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3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Цвілій Влада, Блащак Петро, Коломієць Софія</a:t>
                      </a:r>
                    </a:p>
                  </a:txBody>
                  <a:tcPr marL="25124" marR="25124" marT="12562" marB="12562" anchor="ctr"/>
                </a:tc>
                <a:extLst>
                  <a:ext uri="{0D108BD9-81ED-4DB2-BD59-A6C34878D82A}">
                    <a16:rowId xmlns:a16="http://schemas.microsoft.com/office/drawing/2014/main" val="2779606388"/>
                  </a:ext>
                </a:extLst>
              </a:tr>
              <a:tr h="10142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1.1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08.10.2026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розд. 1.3 / F-60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Термінологічна розбіжність («код працівника» замість «табельний номер»)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У вимозі F-60 замінено «код працівника» на «табельний номер» для єдиної термінології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/>
                        <a:t>4</a:t>
                      </a:r>
                    </a:p>
                  </a:txBody>
                  <a:tcPr marL="25124" marR="25124" marT="12562" marB="1256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uk-UA" sz="1100" dirty="0" err="1"/>
                        <a:t>Блащак</a:t>
                      </a:r>
                      <a:r>
                        <a:rPr lang="uk-UA" sz="1100" dirty="0"/>
                        <a:t> Петро, Коломієць Софія</a:t>
                      </a:r>
                    </a:p>
                  </a:txBody>
                  <a:tcPr marL="25124" marR="25124" marT="12562" marB="12562" anchor="ctr"/>
                </a:tc>
                <a:extLst>
                  <a:ext uri="{0D108BD9-81ED-4DB2-BD59-A6C34878D82A}">
                    <a16:rowId xmlns:a16="http://schemas.microsoft.com/office/drawing/2014/main" val="174566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60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8A2F1-A557-37B3-A943-26013F29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План тестування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D7B2E393-B987-1852-DCAF-251AC27C02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136002"/>
              </p:ext>
            </p:extLst>
          </p:nvPr>
        </p:nvGraphicFramePr>
        <p:xfrm>
          <a:off x="729573" y="1342417"/>
          <a:ext cx="10904709" cy="51517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2070">
                  <a:extLst>
                    <a:ext uri="{9D8B030D-6E8A-4147-A177-3AD203B41FA5}">
                      <a16:colId xmlns:a16="http://schemas.microsoft.com/office/drawing/2014/main" val="555907970"/>
                    </a:ext>
                  </a:extLst>
                </a:gridCol>
                <a:gridCol w="3570051">
                  <a:extLst>
                    <a:ext uri="{9D8B030D-6E8A-4147-A177-3AD203B41FA5}">
                      <a16:colId xmlns:a16="http://schemas.microsoft.com/office/drawing/2014/main" val="3224394051"/>
                    </a:ext>
                  </a:extLst>
                </a:gridCol>
                <a:gridCol w="4153710">
                  <a:extLst>
                    <a:ext uri="{9D8B030D-6E8A-4147-A177-3AD203B41FA5}">
                      <a16:colId xmlns:a16="http://schemas.microsoft.com/office/drawing/2014/main" val="3133441951"/>
                    </a:ext>
                  </a:extLst>
                </a:gridCol>
                <a:gridCol w="1468878">
                  <a:extLst>
                    <a:ext uri="{9D8B030D-6E8A-4147-A177-3AD203B41FA5}">
                      <a16:colId xmlns:a16="http://schemas.microsoft.com/office/drawing/2014/main" val="691717954"/>
                    </a:ext>
                  </a:extLst>
                </a:gridCol>
              </a:tblGrid>
              <a:tr h="859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800" b="1" dirty="0"/>
                        <a:t>Тип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800" b="1"/>
                        <a:t>Ціль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800" b="1" dirty="0"/>
                        <a:t>Опис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800" b="1"/>
                        <a:t>Пріоритет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254670"/>
                  </a:ext>
                </a:extLst>
              </a:tr>
              <a:tr h="840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dirty="0">
                          <a:latin typeface="Inter"/>
                        </a:rPr>
                        <a:t>Функціональне (</a:t>
                      </a:r>
                      <a:r>
                        <a:rPr lang="uk-UA" sz="1100" dirty="0" err="1">
                          <a:latin typeface="Inter"/>
                        </a:rPr>
                        <a:t>functional</a:t>
                      </a:r>
                      <a:r>
                        <a:rPr lang="uk-UA" sz="1100" dirty="0">
                          <a:latin typeface="Inter"/>
                        </a:rPr>
                        <a:t>, </a:t>
                      </a:r>
                      <a:r>
                        <a:rPr lang="uk-UA" sz="1100" dirty="0" err="1">
                          <a:latin typeface="Inter"/>
                        </a:rPr>
                        <a:t>feature</a:t>
                      </a:r>
                      <a:r>
                        <a:rPr lang="uk-UA" sz="1100" dirty="0">
                          <a:latin typeface="Inter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dirty="0">
                          <a:latin typeface="Inter"/>
                        </a:rPr>
                        <a:t>Перевірити відповідність елементів форм входу, відпусток та табелів вимогам F-10-F-80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>
                          <a:latin typeface="Inter"/>
                        </a:rPr>
                        <a:t>Ручне проходження сценаріїв на demo: </a:t>
                      </a:r>
                      <a:br>
                        <a:rPr lang="uk-UA" sz="1100">
                          <a:latin typeface="Inter"/>
                        </a:rPr>
                      </a:br>
                      <a:r>
                        <a:rPr lang="uk-UA" sz="1100">
                          <a:latin typeface="Inter"/>
                        </a:rPr>
                        <a:t>перевірка полів, таблиць та фільтрів. Перевірка правильного підрахунку дат лише за робочі дні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b="0" dirty="0" err="1">
                          <a:latin typeface="Inter"/>
                        </a:rPr>
                        <a:t>High</a:t>
                      </a:r>
                      <a:endParaRPr lang="uk-UA" sz="1100" b="0" dirty="0"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686172"/>
                  </a:ext>
                </a:extLst>
              </a:tr>
              <a:tr h="840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dirty="0">
                          <a:latin typeface="Inter"/>
                        </a:rPr>
                        <a:t>Графічного інтерфейсу (GUI)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>
                          <a:latin typeface="Inter"/>
                        </a:rPr>
                        <a:t>Перевірити відповідність елементів форм входу, відпусток та табелів вимогам GUI-10-GUI-80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dirty="0">
                          <a:latin typeface="Inter"/>
                        </a:rPr>
                        <a:t>Ручне проходження сценаріїв на </a:t>
                      </a:r>
                      <a:r>
                        <a:rPr lang="uk-UA" sz="1100" dirty="0" err="1">
                          <a:latin typeface="Inter"/>
                        </a:rPr>
                        <a:t>demo</a:t>
                      </a:r>
                      <a:r>
                        <a:rPr lang="uk-UA" sz="1100" dirty="0">
                          <a:latin typeface="Inter"/>
                        </a:rPr>
                        <a:t>: перевірка зірочок обов'язкових полів, виведення </a:t>
                      </a:r>
                      <a:r>
                        <a:rPr lang="uk-UA" sz="1100" dirty="0" err="1">
                          <a:latin typeface="Inter"/>
                        </a:rPr>
                        <a:t>Required</a:t>
                      </a:r>
                      <a:r>
                        <a:rPr lang="uk-UA" sz="1100" dirty="0">
                          <a:latin typeface="Inter"/>
                        </a:rPr>
                        <a:t>, підказок дат та відображення балансів.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b="0" dirty="0" err="1">
                          <a:latin typeface="Inter"/>
                        </a:rPr>
                        <a:t>High</a:t>
                      </a:r>
                      <a:endParaRPr lang="uk-UA" sz="1100" b="0" dirty="0"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4921173"/>
                  </a:ext>
                </a:extLst>
              </a:tr>
              <a:tr h="840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dirty="0">
                          <a:latin typeface="Inter"/>
                        </a:rPr>
                        <a:t>Юзабіліті (</a:t>
                      </a:r>
                      <a:r>
                        <a:rPr lang="uk-UA" sz="1100" dirty="0" err="1">
                          <a:latin typeface="Inter"/>
                        </a:rPr>
                        <a:t>usability</a:t>
                      </a:r>
                      <a:r>
                        <a:rPr lang="uk-UA" sz="1100" dirty="0">
                          <a:latin typeface="Inter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>
                          <a:latin typeface="Inter"/>
                        </a:rPr>
                        <a:t>Для самообслугогування ненавчених працівників програма потребує зручного, зрозумілого інтерфейсу.</a:t>
                      </a:r>
                      <a:br>
                        <a:rPr lang="uk-UA" sz="1100">
                          <a:latin typeface="Inter"/>
                        </a:rPr>
                      </a:br>
                      <a:r>
                        <a:rPr lang="uk-UA" sz="1100">
                          <a:latin typeface="Inter"/>
                        </a:rPr>
                        <a:t>Простий, ергономічний інтерфейс спростить і пришвидшить роботу операторам програмного забезпечення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dirty="0">
                          <a:latin typeface="Inter"/>
                        </a:rPr>
                        <a:t>На етапі Альфа та Бета тестування звернути увагу на оцінки зручності використання. Користувач повинен виконувати бізнес-процеси без додаткових вказівок.</a:t>
                      </a:r>
                      <a:br>
                        <a:rPr lang="uk-UA" sz="1100" dirty="0">
                          <a:latin typeface="Inter"/>
                        </a:rPr>
                      </a:br>
                      <a:r>
                        <a:rPr lang="uk-UA" sz="1100" dirty="0">
                          <a:latin typeface="Inter"/>
                        </a:rPr>
                        <a:t>Повідомлення про помилки повинні бути добре видимими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b="0" dirty="0" err="1">
                          <a:latin typeface="Inter"/>
                        </a:rPr>
                        <a:t>Medium</a:t>
                      </a:r>
                      <a:endParaRPr lang="uk-UA" sz="1100" b="0" dirty="0"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276275"/>
                  </a:ext>
                </a:extLst>
              </a:tr>
              <a:tr h="840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dirty="0">
                          <a:latin typeface="Inter"/>
                        </a:rPr>
                        <a:t>Конфігураційне (</a:t>
                      </a:r>
                      <a:r>
                        <a:rPr lang="uk-UA" sz="1100" dirty="0" err="1">
                          <a:latin typeface="Inter"/>
                        </a:rPr>
                        <a:t>configuration</a:t>
                      </a:r>
                      <a:r>
                        <a:rPr lang="uk-UA" sz="1100" dirty="0">
                          <a:latin typeface="Inter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dirty="0">
                          <a:latin typeface="Inter"/>
                        </a:rPr>
                        <a:t>Адаптувати використання Персонал+ до різноформатних пристроїв, різних браузерів зі збереженням коректного відображення даних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>
                          <a:latin typeface="Inter"/>
                        </a:rPr>
                        <a:t>Запуск порталу на різних пристроях та різних браузерах з використанням віртулізації чи внутрішніх інструментів конфігурації браузера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b="0" dirty="0" err="1">
                          <a:latin typeface="Inter"/>
                        </a:rPr>
                        <a:t>Medium</a:t>
                      </a:r>
                      <a:endParaRPr lang="uk-UA" sz="1100" b="0" dirty="0"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811165"/>
                  </a:ext>
                </a:extLst>
              </a:tr>
              <a:tr h="8407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dirty="0">
                          <a:latin typeface="Inter"/>
                        </a:rPr>
                        <a:t>Порівняльне (</a:t>
                      </a:r>
                      <a:r>
                        <a:rPr lang="uk-UA" sz="1100" dirty="0" err="1">
                          <a:latin typeface="Inter"/>
                        </a:rPr>
                        <a:t>benchmarking</a:t>
                      </a:r>
                      <a:r>
                        <a:rPr lang="uk-UA" sz="1100" dirty="0">
                          <a:latin typeface="Inter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>
                          <a:latin typeface="Inter"/>
                        </a:rPr>
                        <a:t>Порівняти показники продуктивності та часу відповіді системи (час входу, відкриття профілю, завантаження списку PIM, розрахунок табелів) попередньою версією застосунку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dirty="0">
                          <a:latin typeface="Inter"/>
                        </a:rPr>
                        <a:t>Запуск набору тестових сценаріїв у </a:t>
                      </a:r>
                      <a:r>
                        <a:rPr lang="uk-UA" sz="1100" dirty="0" err="1">
                          <a:latin typeface="Inter"/>
                        </a:rPr>
                        <a:t>JMeter</a:t>
                      </a:r>
                      <a:r>
                        <a:rPr lang="uk-UA" sz="1100" dirty="0">
                          <a:latin typeface="Inter"/>
                        </a:rPr>
                        <a:t> но новій версії </a:t>
                      </a:r>
                      <a:r>
                        <a:rPr lang="uk-UA" sz="1100" dirty="0" err="1">
                          <a:latin typeface="Inter"/>
                        </a:rPr>
                        <a:t>OrangeHRM</a:t>
                      </a:r>
                      <a:r>
                        <a:rPr lang="uk-UA" sz="1100" dirty="0">
                          <a:latin typeface="Inter"/>
                        </a:rPr>
                        <a:t> та фіксація середнього часу відповіді/RPS.</a:t>
                      </a:r>
                      <a:br>
                        <a:rPr lang="uk-UA" sz="1100" dirty="0">
                          <a:latin typeface="Inter"/>
                        </a:rPr>
                      </a:br>
                      <a:r>
                        <a:rPr lang="uk-UA" sz="1100" dirty="0">
                          <a:latin typeface="Inter"/>
                        </a:rPr>
                        <a:t>Запис результатів в файл. Порівняння з результатами минулої версії з файлу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uk-UA" sz="1100" b="0" dirty="0" err="1">
                          <a:latin typeface="Inter"/>
                        </a:rPr>
                        <a:t>Low</a:t>
                      </a:r>
                      <a:endParaRPr lang="uk-UA" sz="1100" b="0" dirty="0">
                        <a:latin typeface="Inte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513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8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1FF94D-02F9-6054-D211-A0C6449AA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728735"/>
            <a:ext cx="9404723" cy="1400530"/>
          </a:xfrm>
        </p:spPr>
        <p:txBody>
          <a:bodyPr anchor="ctr"/>
          <a:lstStyle/>
          <a:p>
            <a:pPr algn="ctr"/>
            <a:r>
              <a:rPr lang="uk-UA" sz="6600" dirty="0"/>
              <a:t>Дякуємо </a:t>
            </a:r>
            <a:r>
              <a:rPr lang="uk-UA" sz="6600"/>
              <a:t>за увагу!</a:t>
            </a:r>
            <a:endParaRPr lang="uk-UA" sz="6600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8951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95</TotalTime>
  <Words>2930</Words>
  <Application>Microsoft Office PowerPoint</Application>
  <PresentationFormat>Широкий екран</PresentationFormat>
  <Paragraphs>306</Paragraphs>
  <Slides>11</Slides>
  <Notes>10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Gothic</vt:lpstr>
      <vt:lpstr>Gabriola</vt:lpstr>
      <vt:lpstr>Inter</vt:lpstr>
      <vt:lpstr>Wingdings 3</vt:lpstr>
      <vt:lpstr>Іон</vt:lpstr>
      <vt:lpstr>«Персонал+» — система управління персоналом, HRM </vt:lpstr>
      <vt:lpstr>Знайдені дефекти Розділ 1 “Вступ”</vt:lpstr>
      <vt:lpstr>Знайдені дефекти Розділ 2 “Загальний опис”</vt:lpstr>
      <vt:lpstr>Знайдені дефекти Розділ 3 “Функціональні вимоги”</vt:lpstr>
      <vt:lpstr>Знайдені дефекти Розділ 4 “Вимоги до інтерфейсу користувача”</vt:lpstr>
      <vt:lpstr>Знайдені дефекти Розділ 5 “Вимоги до бізнес-логіки модуля”</vt:lpstr>
      <vt:lpstr>Знайдені дефекти Розділ 6 “Нефункціональні вимоги”</vt:lpstr>
      <vt:lpstr>Показові дефекти</vt:lpstr>
      <vt:lpstr>Журнал змін</vt:lpstr>
      <vt:lpstr>План тестування</vt:lpstr>
      <vt:lpstr>Дякуємо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accnopl</dc:creator>
  <cp:lastModifiedBy>accnopl</cp:lastModifiedBy>
  <cp:revision>1</cp:revision>
  <dcterms:created xsi:type="dcterms:W3CDTF">2026-10-16T17:49:41Z</dcterms:created>
  <dcterms:modified xsi:type="dcterms:W3CDTF">2026-10-16T19:25:22Z</dcterms:modified>
</cp:coreProperties>
</file>